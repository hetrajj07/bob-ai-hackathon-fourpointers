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ira Mono" panose="020F0502020204030204" pitchFamily="49" charset="0"/>
      <p:regular r:id="rId17"/>
    </p:embeddedFont>
    <p:embeddedFont>
      <p:font typeface="Fira Mono Medium" panose="020F0502020204030204" pitchFamily="49" charset="0"/>
      <p:regular r:id="rId18"/>
    </p:embeddedFont>
    <p:embeddedFont>
      <p:font typeface="Fira Sans" panose="020B0503050000020004" pitchFamily="34" charset="0"/>
      <p:regular r:id="rId19"/>
      <p:italic r:id="rId20"/>
    </p:embeddedFont>
    <p:embeddedFont>
      <p:font typeface="Fira Sans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76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F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5.png"/><Relationship Id="rId5" Type="http://schemas.openxmlformats.org/officeDocument/2006/relationships/image" Target="../media/image13.sv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11" Type="http://schemas.openxmlformats.org/officeDocument/2006/relationships/image" Target="../media/image5.pn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5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74924"/>
            <a:ext cx="3014984" cy="251420"/>
          </a:xfrm>
          <a:prstGeom prst="roundRect">
            <a:avLst>
              <a:gd name="adj" fmla="val 3031"/>
            </a:avLst>
          </a:prstGeom>
          <a:solidFill>
            <a:srgbClr val="1F26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91" y="1834455"/>
            <a:ext cx="132255" cy="132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9024" y="1824534"/>
            <a:ext cx="322780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IBM BOB AI INNOVATION HACKATHON 2026 · D2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2092424"/>
            <a:ext cx="6359862" cy="826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500" kern="0" spc="-326" dirty="0">
                <a:solidFill>
                  <a:srgbClr val="00D4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ThreatFusion</a:t>
            </a:r>
            <a:endParaRPr lang="en-US" sz="6500" dirty="0"/>
          </a:p>
        </p:txBody>
      </p:sp>
      <p:sp>
        <p:nvSpPr>
          <p:cNvPr id="6" name="Text 3"/>
          <p:cNvSpPr/>
          <p:nvPr/>
        </p:nvSpPr>
        <p:spPr>
          <a:xfrm>
            <a:off x="661475" y="3084711"/>
            <a:ext cx="635986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kern="0" spc="-98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Threat Intelligence Correlation &amp; Alert Prioritisation Assistant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1475" y="3746103"/>
            <a:ext cx="6969447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i="1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From Alert Overload to Actionable Intelligence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1475" y="4204891"/>
            <a:ext cx="6359862" cy="19050"/>
          </a:xfrm>
          <a:prstGeom prst="roundRect">
            <a:avLst>
              <a:gd name="adj" fmla="val 49999"/>
            </a:avLst>
          </a:prstGeom>
          <a:solidFill>
            <a:srgbClr val="F3F3F3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4407496"/>
            <a:ext cx="1917823" cy="380304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4F607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0691" y="4500859"/>
            <a:ext cx="2198169" cy="30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kern="0" spc="-26" dirty="0">
                <a:solidFill>
                  <a:srgbClr val="4F6074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TEAM FOURPOINTERS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1475" y="4888706"/>
            <a:ext cx="6969447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Hetraj Rana · Aaryan Patel · Dhruv Gajera · Hit Goyani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1100" y="2660055"/>
            <a:ext cx="413434" cy="4134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51202" y="2660055"/>
            <a:ext cx="3485269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00D4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Evidence-First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051202" y="3032125"/>
            <a:ext cx="3485269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ATT&amp;CK-backed incident promotion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1100" y="3594298"/>
            <a:ext cx="413434" cy="4134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51202" y="3594298"/>
            <a:ext cx="3485269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FBBF2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IBM Bob MCP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051202" y="3966369"/>
            <a:ext cx="3485269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 read-only investigation tools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D78E10-055B-057A-771A-AD0598FB0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418" y="6429315"/>
            <a:ext cx="1838582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8870"/>
            <a:ext cx="1364521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25" dirty="0">
                <a:solidFill>
                  <a:srgbClr val="F43F5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1475" y="890191"/>
            <a:ext cx="10868745" cy="392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50" kern="0" spc="-155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Alert Overload in Defence</a:t>
            </a:r>
            <a:endParaRPr lang="en-US" sz="3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74713"/>
            <a:ext cx="5242687" cy="11269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3782" y="1850827"/>
            <a:ext cx="481427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77" dirty="0">
                <a:solidFill>
                  <a:srgbClr val="F43F5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ALERT OVERLOAD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3782" y="2196505"/>
            <a:ext cx="4814271" cy="429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kern="0" spc="-25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Thousands of heterogeneous daily alerts from SIEM, endpoint, network sensor and CTI sources.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50865"/>
            <a:ext cx="5242687" cy="11269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3782" y="3126978"/>
            <a:ext cx="481427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77" dirty="0">
                <a:solidFill>
                  <a:srgbClr val="FBBF2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CORRELATION GAP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13782" y="3472656"/>
            <a:ext cx="4814271" cy="429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kern="0" spc="-25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Alerts arrive in different formats; a shared entity does not automatically mean a related event.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27016"/>
            <a:ext cx="5242687" cy="11269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3782" y="4403130"/>
            <a:ext cx="481427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77" dirty="0">
                <a:solidFill>
                  <a:srgbClr val="FBBF2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FALSE POSITIVES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13782" y="4748808"/>
            <a:ext cx="4814271" cy="429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kern="0" spc="-25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Routine admin activity shares hosts, IPs and timeframes with real multi-stage attacks.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3883" y="1674713"/>
            <a:ext cx="5242687" cy="11269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46190" y="1850827"/>
            <a:ext cx="481427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77" dirty="0">
                <a:solidFill>
                  <a:srgbClr val="A855F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OPAQUE TRIAGE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546190" y="2196505"/>
            <a:ext cx="4814271" cy="429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kern="0" spc="-25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single opaque AI score is impossible to audit or explain to a commander.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3883" y="2950865"/>
            <a:ext cx="5242687" cy="112692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546190" y="3126978"/>
            <a:ext cx="481427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77" dirty="0">
                <a:solidFill>
                  <a:srgbClr val="F43F5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MISSED THREATS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6546190" y="3472656"/>
            <a:ext cx="4814271" cy="429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kern="0" spc="-25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Genuine multi-stage attacks get buried beneath high-volume alert noise.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3883" y="4227016"/>
            <a:ext cx="5242687" cy="91241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546190" y="4403130"/>
            <a:ext cx="4814271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kern="0" spc="-77" dirty="0">
                <a:solidFill>
                  <a:srgbClr val="00D4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COMMAND DEFICIT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6546190" y="4748808"/>
            <a:ext cx="4814271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kern="0" spc="-25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Commanders need decision-ready BLUFs, not raw alert queues.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61475" y="5689699"/>
            <a:ext cx="10868745" cy="576461"/>
          </a:xfrm>
          <a:prstGeom prst="roundRect">
            <a:avLst>
              <a:gd name="adj" fmla="val 1322"/>
            </a:avLst>
          </a:prstGeom>
          <a:solidFill>
            <a:srgbClr val="343F4C"/>
          </a:solidFill>
          <a:ln/>
        </p:spPr>
      </p:sp>
      <p:sp>
        <p:nvSpPr>
          <p:cNvPr id="24" name="Text 15"/>
          <p:cNvSpPr/>
          <p:nvPr/>
        </p:nvSpPr>
        <p:spPr>
          <a:xfrm>
            <a:off x="1171943" y="5878116"/>
            <a:ext cx="10810803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b="1" kern="0" spc="-25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"The gap is not a lack of alerts — it is the inability to turn observations into commander-ready decisions."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F2EEF62-6412-3FD9-37CE-7FEB972E2C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418" y="6387573"/>
            <a:ext cx="1838582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520"/>
            <a:ext cx="1369284" cy="134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3" dirty="0">
                <a:solidFill>
                  <a:srgbClr val="00D4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61475" y="774105"/>
            <a:ext cx="10868745" cy="366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50" kern="0" spc="-144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Evidence-Backed Incident Promotion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61475" y="1335088"/>
            <a:ext cx="10868745" cy="513159"/>
          </a:xfrm>
          <a:prstGeom prst="roundRect">
            <a:avLst>
              <a:gd name="adj" fmla="val 1485"/>
            </a:avLst>
          </a:prstGeom>
          <a:solidFill>
            <a:srgbClr val="343F4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18" y="1506637"/>
            <a:ext cx="183153" cy="1464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7515" y="1501477"/>
            <a:ext cx="10855847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kern="0" spc="-23" dirty="0">
                <a:solidFill>
                  <a:srgbClr val="00D4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Shared entity = Hypothesis. ATT&amp;CK behavioral evidence = Incident.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1475" y="2140148"/>
            <a:ext cx="2929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58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01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1475" y="2333427"/>
            <a:ext cx="5255684" cy="19050"/>
          </a:xfrm>
          <a:prstGeom prst="rect">
            <a:avLst/>
          </a:prstGeom>
          <a:solidFill>
            <a:srgbClr val="425459"/>
          </a:solidFill>
          <a:ln/>
        </p:spPr>
      </p:sp>
      <p:sp>
        <p:nvSpPr>
          <p:cNvPr id="9" name="Text 6"/>
          <p:cNvSpPr/>
          <p:nvPr/>
        </p:nvSpPr>
        <p:spPr>
          <a:xfrm>
            <a:off x="661475" y="2444750"/>
            <a:ext cx="5255684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0" spc="-72" dirty="0">
                <a:solidFill>
                  <a:srgbClr val="00D4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Alert Sources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1475" y="2757686"/>
            <a:ext cx="5255684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SIEM · Endpoint · Network Sensor · CTI — 4 source schemas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1475" y="3190677"/>
            <a:ext cx="2929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58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1475" y="3383955"/>
            <a:ext cx="5255684" cy="19050"/>
          </a:xfrm>
          <a:prstGeom prst="rect">
            <a:avLst/>
          </a:prstGeom>
          <a:solidFill>
            <a:srgbClr val="313B46"/>
          </a:solidFill>
          <a:ln/>
        </p:spPr>
      </p:sp>
      <p:sp>
        <p:nvSpPr>
          <p:cNvPr id="13" name="Text 10"/>
          <p:cNvSpPr/>
          <p:nvPr/>
        </p:nvSpPr>
        <p:spPr>
          <a:xfrm>
            <a:off x="661475" y="3495278"/>
            <a:ext cx="5255684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0" spc="-72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Normalisation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1475" y="3808214"/>
            <a:ext cx="5255684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 schemas → canonical event shape + provenance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475" y="4241205"/>
            <a:ext cx="2929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58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61475" y="4434483"/>
            <a:ext cx="5255684" cy="19050"/>
          </a:xfrm>
          <a:prstGeom prst="rect">
            <a:avLst/>
          </a:prstGeom>
          <a:solidFill>
            <a:srgbClr val="1E3849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4545806"/>
            <a:ext cx="5255684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0" spc="-72" dirty="0">
                <a:solidFill>
                  <a:srgbClr val="00D4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Candidate Clustering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1475" y="4858742"/>
            <a:ext cx="5255684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Weighted entity links + continuous temporal decay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61475" y="5291733"/>
            <a:ext cx="2929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58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61475" y="5485011"/>
            <a:ext cx="5255684" cy="19050"/>
          </a:xfrm>
          <a:prstGeom prst="rect">
            <a:avLst/>
          </a:prstGeom>
          <a:solidFill>
            <a:srgbClr val="1B272D"/>
          </a:solidFill>
          <a:ln/>
        </p:spPr>
      </p:sp>
      <p:sp>
        <p:nvSpPr>
          <p:cNvPr id="21" name="Text 18"/>
          <p:cNvSpPr/>
          <p:nvPr/>
        </p:nvSpPr>
        <p:spPr>
          <a:xfrm>
            <a:off x="661475" y="5596334"/>
            <a:ext cx="5255684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0" spc="-72" dirty="0">
                <a:solidFill>
                  <a:srgbClr val="10B981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ATT&amp;CK Inference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1475" y="5909270"/>
            <a:ext cx="5255684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Sub-technique mapping with per-record rationale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280886" y="2140148"/>
            <a:ext cx="2929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58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01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80886" y="2333427"/>
            <a:ext cx="5255684" cy="19050"/>
          </a:xfrm>
          <a:prstGeom prst="rect">
            <a:avLst/>
          </a:prstGeom>
          <a:solidFill>
            <a:srgbClr val="425459"/>
          </a:solidFill>
          <a:ln/>
        </p:spPr>
      </p:sp>
      <p:sp>
        <p:nvSpPr>
          <p:cNvPr id="25" name="Text 22"/>
          <p:cNvSpPr/>
          <p:nvPr/>
        </p:nvSpPr>
        <p:spPr>
          <a:xfrm>
            <a:off x="6280886" y="2444750"/>
            <a:ext cx="5255684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0" spc="-72" dirty="0">
                <a:solidFill>
                  <a:srgbClr val="10B981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Attack-Flow Coherence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280886" y="2757686"/>
            <a:ext cx="5255684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Progression · Depth · Backtrack analysis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280886" y="3190677"/>
            <a:ext cx="2929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58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80886" y="3383955"/>
            <a:ext cx="5255684" cy="19050"/>
          </a:xfrm>
          <a:prstGeom prst="rect">
            <a:avLst/>
          </a:prstGeom>
          <a:solidFill>
            <a:srgbClr val="313B46"/>
          </a:solidFill>
          <a:ln/>
        </p:spPr>
      </p:sp>
      <p:sp>
        <p:nvSpPr>
          <p:cNvPr id="29" name="Text 26"/>
          <p:cNvSpPr/>
          <p:nvPr/>
        </p:nvSpPr>
        <p:spPr>
          <a:xfrm>
            <a:off x="6280886" y="3495278"/>
            <a:ext cx="5255684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0" spc="-72" dirty="0">
                <a:solidFill>
                  <a:srgbClr val="FBBF2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Risk Scoring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280886" y="3808214"/>
            <a:ext cx="5255684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Confidence · Severity · Mission Impact · Urgency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280886" y="4241205"/>
            <a:ext cx="2929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58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280886" y="4434483"/>
            <a:ext cx="5255684" cy="19050"/>
          </a:xfrm>
          <a:prstGeom prst="rect">
            <a:avLst/>
          </a:prstGeom>
          <a:solidFill>
            <a:srgbClr val="1E3849"/>
          </a:solidFill>
          <a:ln/>
        </p:spPr>
      </p:sp>
      <p:sp>
        <p:nvSpPr>
          <p:cNvPr id="33" name="Text 30"/>
          <p:cNvSpPr/>
          <p:nvPr/>
        </p:nvSpPr>
        <p:spPr>
          <a:xfrm>
            <a:off x="6280886" y="4545806"/>
            <a:ext cx="5255684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0" spc="-72" dirty="0">
                <a:solidFill>
                  <a:srgbClr val="F43F5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Incident Promotion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280886" y="4858742"/>
            <a:ext cx="5255684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Only behavioral-evidence-backed hypotheses promoted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280886" y="5291733"/>
            <a:ext cx="2929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58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280886" y="5485011"/>
            <a:ext cx="5255684" cy="19050"/>
          </a:xfrm>
          <a:prstGeom prst="rect">
            <a:avLst/>
          </a:prstGeom>
          <a:solidFill>
            <a:srgbClr val="1B272D"/>
          </a:solidFill>
          <a:ln/>
        </p:spPr>
      </p:sp>
      <p:sp>
        <p:nvSpPr>
          <p:cNvPr id="37" name="Text 34"/>
          <p:cNvSpPr/>
          <p:nvPr/>
        </p:nvSpPr>
        <p:spPr>
          <a:xfrm>
            <a:off x="6280886" y="5596334"/>
            <a:ext cx="5255684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0" spc="-72" dirty="0">
                <a:solidFill>
                  <a:srgbClr val="FBBF2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BLUF + Remediation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280886" y="5909270"/>
            <a:ext cx="5255684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Commander brief + phased containment runbook</a:t>
            </a:r>
            <a:endParaRPr lang="en-US" sz="11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3150F74-823E-03AA-8B3A-E563509EF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418" y="6429315"/>
            <a:ext cx="1838582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4248"/>
            <a:ext cx="1207958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kern="0" spc="-20" dirty="0">
                <a:solidFill>
                  <a:srgbClr val="00D4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61475" y="842764"/>
            <a:ext cx="108687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0" spc="-122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61475" y="1292423"/>
            <a:ext cx="3560872" cy="1240433"/>
          </a:xfrm>
          <a:prstGeom prst="roundRect">
            <a:avLst>
              <a:gd name="adj" fmla="val 614"/>
            </a:avLst>
          </a:prstGeom>
          <a:solidFill>
            <a:srgbClr val="425459"/>
          </a:solidFill>
          <a:ln w="6350">
            <a:solidFill>
              <a:srgbClr val="4254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1845" y="1422797"/>
            <a:ext cx="372061" cy="372070"/>
          </a:xfrm>
          <a:prstGeom prst="ellipse">
            <a:avLst/>
          </a:prstGeom>
          <a:solidFill>
            <a:srgbClr val="42545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137" y="1525091"/>
            <a:ext cx="167378" cy="1673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1845" y="1887835"/>
            <a:ext cx="3300132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Event Correlation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1845" y="2098675"/>
            <a:ext cx="3300132" cy="303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Weighted entity links + continuous temporal decay across sources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15312" y="1292423"/>
            <a:ext cx="3560971" cy="1240433"/>
          </a:xfrm>
          <a:prstGeom prst="roundRect">
            <a:avLst>
              <a:gd name="adj" fmla="val 614"/>
            </a:avLst>
          </a:prstGeom>
          <a:solidFill>
            <a:srgbClr val="425459"/>
          </a:solidFill>
          <a:ln w="6350">
            <a:solidFill>
              <a:srgbClr val="313B4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45683" y="1422797"/>
            <a:ext cx="372061" cy="372070"/>
          </a:xfrm>
          <a:prstGeom prst="ellipse">
            <a:avLst/>
          </a:prstGeom>
          <a:solidFill>
            <a:srgbClr val="313B4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7975" y="1525091"/>
            <a:ext cx="167378" cy="1673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45683" y="1887835"/>
            <a:ext cx="3300231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Incident Detection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445683" y="2098675"/>
            <a:ext cx="3300231" cy="303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ATT&amp;CK behavior validation required before incident promotion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969249" y="1292423"/>
            <a:ext cx="3560872" cy="1240433"/>
          </a:xfrm>
          <a:prstGeom prst="roundRect">
            <a:avLst>
              <a:gd name="adj" fmla="val 614"/>
            </a:avLst>
          </a:prstGeom>
          <a:solidFill>
            <a:srgbClr val="425459"/>
          </a:solidFill>
          <a:ln w="6350">
            <a:solidFill>
              <a:srgbClr val="1E384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9619" y="1422797"/>
            <a:ext cx="372061" cy="372070"/>
          </a:xfrm>
          <a:prstGeom prst="ellipse">
            <a:avLst/>
          </a:prstGeom>
          <a:solidFill>
            <a:srgbClr val="1E384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1911" y="1525091"/>
            <a:ext cx="167378" cy="1673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9619" y="1887835"/>
            <a:ext cx="3300132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Explainable Risk Scoring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099619" y="2098675"/>
            <a:ext cx="3300132" cy="303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 dimensions: Confidence · Severity · Mission Impact · Urgency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61475" y="2625824"/>
            <a:ext cx="10868646" cy="1088529"/>
          </a:xfrm>
          <a:prstGeom prst="roundRect">
            <a:avLst>
              <a:gd name="adj" fmla="val 700"/>
            </a:avLst>
          </a:prstGeom>
          <a:solidFill>
            <a:srgbClr val="425459"/>
          </a:solidFill>
          <a:ln w="6350">
            <a:solidFill>
              <a:srgbClr val="1B272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1845" y="2756198"/>
            <a:ext cx="372061" cy="372070"/>
          </a:xfrm>
          <a:prstGeom prst="ellipse">
            <a:avLst/>
          </a:prstGeom>
          <a:solidFill>
            <a:srgbClr val="1B272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4137" y="2858492"/>
            <a:ext cx="167378" cy="1673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1845" y="3221236"/>
            <a:ext cx="10607906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Detection Gap Analysis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91845" y="3432076"/>
            <a:ext cx="10607906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Unobserved ATT&amp;CK tactics explicitly flagged as telemetry gaps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61475" y="3818930"/>
            <a:ext cx="3560872" cy="1240433"/>
          </a:xfrm>
          <a:prstGeom prst="roundRect">
            <a:avLst>
              <a:gd name="adj" fmla="val 614"/>
            </a:avLst>
          </a:prstGeom>
          <a:solidFill>
            <a:srgbClr val="425459"/>
          </a:solidFill>
          <a:ln w="6350">
            <a:solidFill>
              <a:srgbClr val="42545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1845" y="3949303"/>
            <a:ext cx="372061" cy="372070"/>
          </a:xfrm>
          <a:prstGeom prst="ellipse">
            <a:avLst/>
          </a:prstGeom>
          <a:solidFill>
            <a:srgbClr val="425459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4137" y="4051598"/>
            <a:ext cx="167378" cy="1673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1845" y="4414341"/>
            <a:ext cx="3300132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Threat Indicator Search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91845" y="4625181"/>
            <a:ext cx="3300132" cy="303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Search IPs, IOCs, hosts and users across raw observations and hypotheses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315312" y="3818930"/>
            <a:ext cx="3560971" cy="1240433"/>
          </a:xfrm>
          <a:prstGeom prst="roundRect">
            <a:avLst>
              <a:gd name="adj" fmla="val 614"/>
            </a:avLst>
          </a:prstGeom>
          <a:solidFill>
            <a:srgbClr val="425459"/>
          </a:solidFill>
          <a:ln w="6350">
            <a:solidFill>
              <a:srgbClr val="313B4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445683" y="3949303"/>
            <a:ext cx="372061" cy="372070"/>
          </a:xfrm>
          <a:prstGeom prst="ellipse">
            <a:avLst/>
          </a:prstGeom>
          <a:solidFill>
            <a:srgbClr val="313B4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47975" y="4051598"/>
            <a:ext cx="167378" cy="16738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45683" y="4414341"/>
            <a:ext cx="3300231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Remediation Guidance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4445683" y="4625181"/>
            <a:ext cx="3300231" cy="303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Phased runbook: Containment → Eradication → Detection Engineering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7969249" y="3818930"/>
            <a:ext cx="3560872" cy="1240433"/>
          </a:xfrm>
          <a:prstGeom prst="roundRect">
            <a:avLst>
              <a:gd name="adj" fmla="val 614"/>
            </a:avLst>
          </a:prstGeom>
          <a:solidFill>
            <a:srgbClr val="425459"/>
          </a:solidFill>
          <a:ln w="6350">
            <a:solidFill>
              <a:srgbClr val="1E3849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099619" y="3949303"/>
            <a:ext cx="372061" cy="372070"/>
          </a:xfrm>
          <a:prstGeom prst="ellipse">
            <a:avLst/>
          </a:prstGeom>
          <a:solidFill>
            <a:srgbClr val="1E3849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01911" y="4051598"/>
            <a:ext cx="167378" cy="16738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099619" y="4414341"/>
            <a:ext cx="3300132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BLUF Generation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8099619" y="4625181"/>
            <a:ext cx="3300132" cy="303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Commander-ready brief grounded in deterministic evidence, never invented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61475" y="5152330"/>
            <a:ext cx="10868646" cy="1088529"/>
          </a:xfrm>
          <a:prstGeom prst="roundRect">
            <a:avLst>
              <a:gd name="adj" fmla="val 700"/>
            </a:avLst>
          </a:prstGeom>
          <a:solidFill>
            <a:srgbClr val="425459"/>
          </a:solidFill>
          <a:ln w="6350">
            <a:solidFill>
              <a:srgbClr val="1B272D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791845" y="5282704"/>
            <a:ext cx="372061" cy="372070"/>
          </a:xfrm>
          <a:prstGeom prst="ellipse">
            <a:avLst/>
          </a:prstGeom>
          <a:solidFill>
            <a:srgbClr val="1B272D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4137" y="5384998"/>
            <a:ext cx="167378" cy="16738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91845" y="5747742"/>
            <a:ext cx="10607906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IBM Bob MCP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791845" y="5958582"/>
            <a:ext cx="10607906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 read-only investigation tools callable directly from IBM Bob</a:t>
            </a:r>
            <a:endParaRPr lang="en-US" sz="9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EA2D678-9628-E542-1F44-79BEBB7D8C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53418" y="6404858"/>
            <a:ext cx="1838582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8515"/>
            <a:ext cx="173697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00D4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1475" y="92640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50" kern="0" spc="-163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Technology Stack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1753195"/>
            <a:ext cx="5232666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00D4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Languages &amp; Frameworks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46002"/>
            <a:ext cx="2533686" cy="12037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2330351"/>
            <a:ext cx="2088800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2702421"/>
            <a:ext cx="2088800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Core correlation engine + MCP server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0455" y="2146002"/>
            <a:ext cx="2533686" cy="12037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20997" y="2330351"/>
            <a:ext cx="2088800" cy="41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JavaScript · HTML · CSS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20997" y="2909193"/>
            <a:ext cx="208880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Analyst dashboard UI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515023"/>
            <a:ext cx="2533686" cy="11790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2017" y="3699371"/>
            <a:ext cx="2088800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FastAPI + Uvicorn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2017" y="4071441"/>
            <a:ext cx="208880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REST API and ASGI server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0455" y="3515023"/>
            <a:ext cx="2533686" cy="11790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20997" y="3699371"/>
            <a:ext cx="2088800" cy="41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JSON-RPC 2.0 over STDIO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620997" y="4278213"/>
            <a:ext cx="208880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MCP transport protocol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859338"/>
            <a:ext cx="2533686" cy="120372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2017" y="5043686"/>
            <a:ext cx="2088800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pytest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922017" y="5415756"/>
            <a:ext cx="2088800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Deterministic offline evaluation benchmark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303904" y="1753195"/>
            <a:ext cx="5232666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FBBF2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IBM &amp; Knowledge</a:t>
            </a:r>
            <a:endParaRPr lang="en-US" sz="16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03904" y="2146002"/>
            <a:ext cx="2533686" cy="142319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564446" y="2330351"/>
            <a:ext cx="2088800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IBM Bob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564446" y="2702421"/>
            <a:ext cx="2088800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Analyst investigation + narrative synthesis</a:t>
            </a:r>
            <a:endParaRPr lang="en-US" sz="13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02884" y="2146002"/>
            <a:ext cx="2533686" cy="142319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263426" y="2330351"/>
            <a:ext cx="2088800" cy="41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IBM Bob MCP Workflow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9263426" y="2909193"/>
            <a:ext cx="2088800" cy="475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Project-level </a:t>
            </a:r>
            <a:r>
              <a:rPr lang="en-US" sz="1300" kern="0" spc="-26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.bob/mcp.json</a:t>
            </a: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config</a:t>
            </a:r>
            <a:endParaRPr lang="en-US" sz="13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03904" y="3734495"/>
            <a:ext cx="2533686" cy="120372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564446" y="3918843"/>
            <a:ext cx="2088800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MITRE ATT&amp;CK v19.2</a:t>
            </a:r>
            <a:endParaRPr lang="en-US" sz="1600" dirty="0"/>
          </a:p>
        </p:txBody>
      </p:sp>
      <p:sp>
        <p:nvSpPr>
          <p:cNvPr id="29" name="Text 19"/>
          <p:cNvSpPr/>
          <p:nvPr/>
        </p:nvSpPr>
        <p:spPr>
          <a:xfrm>
            <a:off x="6564446" y="4290913"/>
            <a:ext cx="2088800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Bundled technique and group snapshot</a:t>
            </a:r>
            <a:endParaRPr lang="en-US" sz="13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02884" y="3734495"/>
            <a:ext cx="2533686" cy="120372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263426" y="3918843"/>
            <a:ext cx="2088800" cy="206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0" spc="-8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STIX / TAXII 2.1</a:t>
            </a:r>
            <a:endParaRPr lang="en-US" sz="1600" dirty="0"/>
          </a:p>
        </p:txBody>
      </p:sp>
      <p:sp>
        <p:nvSpPr>
          <p:cNvPr id="32" name="Text 21"/>
          <p:cNvSpPr/>
          <p:nvPr/>
        </p:nvSpPr>
        <p:spPr>
          <a:xfrm>
            <a:off x="9263426" y="4290913"/>
            <a:ext cx="2088800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Future CTI ingestion boundary</a:t>
            </a:r>
            <a:endParaRPr lang="en-US" sz="13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1C06086-8A8E-5E9A-3B46-8990B46FA7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07826" y="6429315"/>
            <a:ext cx="1838582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445"/>
            <a:ext cx="1109436" cy="91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kern="0" spc="-16" dirty="0">
                <a:solidFill>
                  <a:srgbClr val="00D4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ARCHITECTURE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661475" y="684907"/>
            <a:ext cx="10868745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950" kern="0" spc="-98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System Architecture &amp; Data Flow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1475" y="1080988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00D4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Engine Pipeline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61475" y="1271687"/>
            <a:ext cx="198135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39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61475" y="1402457"/>
            <a:ext cx="5313527" cy="12700"/>
          </a:xfrm>
          <a:prstGeom prst="rect">
            <a:avLst/>
          </a:prstGeom>
          <a:solidFill>
            <a:srgbClr val="425459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1477367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Alert Sources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1475" y="1660624"/>
            <a:ext cx="5313527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SIEM · Endpoint · Network · CTI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61475" y="1905198"/>
            <a:ext cx="198135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39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61475" y="2035969"/>
            <a:ext cx="5313527" cy="12700"/>
          </a:xfrm>
          <a:prstGeom prst="rect">
            <a:avLst/>
          </a:prstGeom>
          <a:solidFill>
            <a:srgbClr val="313B46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2110879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Normalisation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1475" y="2294136"/>
            <a:ext cx="5313527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 schemas → canonical event shape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61475" y="2538710"/>
            <a:ext cx="198135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39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1475" y="2669480"/>
            <a:ext cx="5313527" cy="12700"/>
          </a:xfrm>
          <a:prstGeom prst="rect">
            <a:avLst/>
          </a:prstGeom>
          <a:solidFill>
            <a:srgbClr val="1E3849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2744391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Inverted Entity Index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1475" y="2927648"/>
            <a:ext cx="5313527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96.5% pair reduction vs naïve O(N²)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61475" y="3172222"/>
            <a:ext cx="198135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39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61475" y="3302992"/>
            <a:ext cx="5313527" cy="12700"/>
          </a:xfrm>
          <a:prstGeom prst="rect">
            <a:avLst/>
          </a:prstGeom>
          <a:solidFill>
            <a:srgbClr val="1B272D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3377902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Candidate Clustering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1475" y="3561159"/>
            <a:ext cx="5313527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Weighted entity links + temporal decay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61475" y="3805734"/>
            <a:ext cx="198135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39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05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1475" y="3936504"/>
            <a:ext cx="5313527" cy="12700"/>
          </a:xfrm>
          <a:prstGeom prst="rect">
            <a:avLst/>
          </a:prstGeom>
          <a:solidFill>
            <a:srgbClr val="425459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4011414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ATT&amp;CK Sub-technique Inference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1475" y="4194671"/>
            <a:ext cx="5313527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Evidence-backed mapping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61475" y="4439245"/>
            <a:ext cx="198135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39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06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61475" y="4570016"/>
            <a:ext cx="5313527" cy="12700"/>
          </a:xfrm>
          <a:prstGeom prst="rect">
            <a:avLst/>
          </a:prstGeom>
          <a:solidFill>
            <a:srgbClr val="313B46"/>
          </a:solidFill>
          <a:ln/>
        </p:spPr>
      </p:sp>
      <p:sp>
        <p:nvSpPr>
          <p:cNvPr id="27" name="Text 25"/>
          <p:cNvSpPr/>
          <p:nvPr/>
        </p:nvSpPr>
        <p:spPr>
          <a:xfrm>
            <a:off x="661475" y="4644926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Attack-Flow Coherence Engine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1475" y="4828183"/>
            <a:ext cx="5313527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Progression · Depth · Backtrack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1475" y="5072757"/>
            <a:ext cx="198135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39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07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61475" y="5203527"/>
            <a:ext cx="5313527" cy="12700"/>
          </a:xfrm>
          <a:prstGeom prst="rect">
            <a:avLst/>
          </a:prstGeom>
          <a:solidFill>
            <a:srgbClr val="1E3849"/>
          </a:solidFill>
          <a:ln/>
        </p:spPr>
      </p:sp>
      <p:sp>
        <p:nvSpPr>
          <p:cNvPr id="31" name="Text 29"/>
          <p:cNvSpPr/>
          <p:nvPr/>
        </p:nvSpPr>
        <p:spPr>
          <a:xfrm>
            <a:off x="661475" y="5278438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Risk Scoring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1475" y="5461695"/>
            <a:ext cx="5313527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Confidence · Severity · Mission Impact · Urgency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61475" y="5706269"/>
            <a:ext cx="198135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39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08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1475" y="5837039"/>
            <a:ext cx="5313527" cy="12700"/>
          </a:xfrm>
          <a:prstGeom prst="rect">
            <a:avLst/>
          </a:prstGeom>
          <a:solidFill>
            <a:srgbClr val="1B272D"/>
          </a:solidFill>
          <a:ln/>
        </p:spPr>
      </p:sp>
      <p:sp>
        <p:nvSpPr>
          <p:cNvPr id="35" name="Text 33"/>
          <p:cNvSpPr/>
          <p:nvPr/>
        </p:nvSpPr>
        <p:spPr>
          <a:xfrm>
            <a:off x="661475" y="5911949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Incident Promotion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1475" y="6095206"/>
            <a:ext cx="5313527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Behavioral evidence required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23043" y="1080988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BBF2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Output &amp; Investigation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23043" y="1271687"/>
            <a:ext cx="198135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39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223043" y="1402457"/>
            <a:ext cx="5313527" cy="12700"/>
          </a:xfrm>
          <a:prstGeom prst="rect">
            <a:avLst/>
          </a:prstGeom>
          <a:solidFill>
            <a:srgbClr val="425459"/>
          </a:solidFill>
          <a:ln/>
        </p:spPr>
      </p:sp>
      <p:sp>
        <p:nvSpPr>
          <p:cNvPr id="40" name="Text 38"/>
          <p:cNvSpPr/>
          <p:nvPr/>
        </p:nvSpPr>
        <p:spPr>
          <a:xfrm>
            <a:off x="6223043" y="1477367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FastAPI Dashboard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23043" y="1660624"/>
            <a:ext cx="5313527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Case review · Evidence timeline · BLUF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23043" y="1905198"/>
            <a:ext cx="198135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39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223043" y="2035969"/>
            <a:ext cx="5313527" cy="12700"/>
          </a:xfrm>
          <a:prstGeom prst="rect">
            <a:avLst/>
          </a:prstGeom>
          <a:solidFill>
            <a:srgbClr val="313B46"/>
          </a:solidFill>
          <a:ln/>
        </p:spPr>
      </p:sp>
      <p:sp>
        <p:nvSpPr>
          <p:cNvPr id="44" name="Text 42"/>
          <p:cNvSpPr/>
          <p:nvPr/>
        </p:nvSpPr>
        <p:spPr>
          <a:xfrm>
            <a:off x="6223043" y="2110879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MCP Server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23043" y="2294136"/>
            <a:ext cx="5313527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JSON-RPC 2.0 · STDIO · 7 read-only tools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23043" y="2538710"/>
            <a:ext cx="198135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39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23043" y="2669480"/>
            <a:ext cx="5313527" cy="12700"/>
          </a:xfrm>
          <a:prstGeom prst="rect">
            <a:avLst/>
          </a:prstGeom>
          <a:solidFill>
            <a:srgbClr val="1E3849"/>
          </a:solidFill>
          <a:ln/>
        </p:spPr>
      </p:sp>
      <p:sp>
        <p:nvSpPr>
          <p:cNvPr id="48" name="Text 46"/>
          <p:cNvSpPr/>
          <p:nvPr/>
        </p:nvSpPr>
        <p:spPr>
          <a:xfrm>
            <a:off x="6223043" y="2744391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IBM Bob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23043" y="2927648"/>
            <a:ext cx="5313527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750" kern="0" spc="-16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/investigate</a:t>
            </a: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· </a:t>
            </a:r>
            <a:r>
              <a:rPr lang="en-US" sz="750" kern="0" spc="-16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/explain</a:t>
            </a: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· </a:t>
            </a:r>
            <a:r>
              <a:rPr lang="en-US" sz="750" kern="0" spc="-16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/bluf</a:t>
            </a: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· </a:t>
            </a:r>
            <a:r>
              <a:rPr lang="en-US" sz="750" kern="0" spc="-16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/runbook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223043" y="3172222"/>
            <a:ext cx="198135" cy="99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39" dirty="0">
                <a:solidFill>
                  <a:srgbClr val="F3F3F3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223043" y="3302992"/>
            <a:ext cx="5313527" cy="12700"/>
          </a:xfrm>
          <a:prstGeom prst="rect">
            <a:avLst/>
          </a:prstGeom>
          <a:solidFill>
            <a:srgbClr val="1B272D"/>
          </a:solidFill>
          <a:ln/>
        </p:spPr>
      </p:sp>
      <p:sp>
        <p:nvSpPr>
          <p:cNvPr id="52" name="Text 50"/>
          <p:cNvSpPr/>
          <p:nvPr/>
        </p:nvSpPr>
        <p:spPr>
          <a:xfrm>
            <a:off x="6223043" y="3377902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50" kern="0" spc="-49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Analyst Decision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23043" y="3561159"/>
            <a:ext cx="5313527" cy="110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75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Containment · Escalation · Command brief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223043" y="3837880"/>
            <a:ext cx="5313527" cy="12700"/>
          </a:xfrm>
          <a:prstGeom prst="roundRect">
            <a:avLst>
              <a:gd name="adj" fmla="val 49999"/>
            </a:avLst>
          </a:prstGeom>
          <a:solidFill>
            <a:srgbClr val="F3F3F3">
              <a:alpha val="5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223043" y="3942060"/>
            <a:ext cx="5313527" cy="123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kern="0" spc="-49" dirty="0">
                <a:solidFill>
                  <a:srgbClr val="10B981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223043" y="4148567"/>
            <a:ext cx="5313527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93000"/>
              </a:lnSpc>
              <a:buSzPct val="100000"/>
              <a:buChar char="•"/>
            </a:pPr>
            <a:r>
              <a:rPr lang="en-US" sz="140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✓ Ground truth offline-only — never used at runtime</a:t>
            </a:r>
            <a:endParaRPr lang="en-US" sz="1400" dirty="0"/>
          </a:p>
          <a:p>
            <a:pPr marL="152400" indent="-152400" algn="l">
              <a:lnSpc>
                <a:spcPct val="93000"/>
              </a:lnSpc>
              <a:buSzPct val="100000"/>
              <a:buChar char="•"/>
            </a:pPr>
            <a:r>
              <a:rPr lang="en-US" sz="140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✓ Read-only MCP — no autonomous containment actions</a:t>
            </a:r>
            <a:endParaRPr lang="en-US" sz="1400" dirty="0"/>
          </a:p>
          <a:p>
            <a:pPr marL="152400" indent="-152400" algn="l">
              <a:lnSpc>
                <a:spcPct val="93000"/>
              </a:lnSpc>
              <a:buSzPct val="100000"/>
              <a:buChar char="•"/>
            </a:pPr>
            <a:r>
              <a:rPr lang="en-US" sz="1400" kern="0" spc="-1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✓ Public IPs are not automatically IOCs</a:t>
            </a:r>
            <a:endParaRPr lang="en-US" sz="14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CB391826-DEDF-9EAC-E6D9-BBE45993C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418" y="6429315"/>
            <a:ext cx="1838582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7679"/>
            <a:ext cx="1533884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3" dirty="0">
                <a:solidFill>
                  <a:srgbClr val="00D4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MCP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61475" y="872827"/>
            <a:ext cx="10868745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900" kern="0" spc="-147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IBM Bob + MCP Integration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61475" y="1579860"/>
            <a:ext cx="581437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00D4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7 MCP Tools — "threatfusion" server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1897559"/>
            <a:ext cx="2842546" cy="7666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8398" y="1916609"/>
            <a:ext cx="2636573" cy="19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correlate_events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48398" y="2249289"/>
            <a:ext cx="2636573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Run deterministic analysis; return promoted incidents and counts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3300" y="1897559"/>
            <a:ext cx="2842546" cy="7666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39273" y="1916609"/>
            <a:ext cx="2636573" cy="19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get_incident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3839273" y="2249289"/>
            <a:ext cx="2636573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Grounded evidence, ATT&amp;CK mapping, risk factors and provenance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425" y="2894013"/>
            <a:ext cx="2842546" cy="7666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8398" y="2913063"/>
            <a:ext cx="2636573" cy="19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explain_risk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48398" y="3245743"/>
            <a:ext cx="2636573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Deterministic risk decomposition across all 4 scoring dimensions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3300" y="2894013"/>
            <a:ext cx="2842546" cy="7666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839273" y="2913063"/>
            <a:ext cx="2636573" cy="19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get_detection_gaps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3839273" y="3245743"/>
            <a:ext cx="2636573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Observed vs unobserved ATT&amp;CK tactics; absence = possible telemetry gap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3890466"/>
            <a:ext cx="2842546" cy="76666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8398" y="3909516"/>
            <a:ext cx="2636573" cy="19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generate_bluf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848398" y="4242197"/>
            <a:ext cx="2636573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Commander-ready BLUF from grounded evidence, never invented by AI</a:t>
            </a:r>
            <a:endParaRPr lang="en-US" sz="11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3300" y="3890466"/>
            <a:ext cx="2842546" cy="76666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839273" y="3909516"/>
            <a:ext cx="2636573" cy="19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get_remediation_runbook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3839273" y="4242197"/>
            <a:ext cx="2636573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Phased containment, eradication and detection engineering runbook</a:t>
            </a:r>
            <a:endParaRPr lang="en-US" sz="11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425" y="4886920"/>
            <a:ext cx="5833420" cy="56872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48398" y="4905970"/>
            <a:ext cx="5627447" cy="19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search_indicators</a:t>
            </a:r>
            <a:endParaRPr lang="en-US" sz="1450" dirty="0"/>
          </a:p>
        </p:txBody>
      </p:sp>
      <p:sp>
        <p:nvSpPr>
          <p:cNvPr id="25" name="Text 16"/>
          <p:cNvSpPr/>
          <p:nvPr/>
        </p:nvSpPr>
        <p:spPr>
          <a:xfrm>
            <a:off x="848398" y="5238651"/>
            <a:ext cx="5627447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Search IPs, IOCs, hosts and users across observations and hypotheses</a:t>
            </a:r>
            <a:endParaRPr lang="en-US" sz="1150" dirty="0"/>
          </a:p>
        </p:txBody>
      </p:sp>
      <p:sp>
        <p:nvSpPr>
          <p:cNvPr id="26" name="Text 17"/>
          <p:cNvSpPr/>
          <p:nvPr/>
        </p:nvSpPr>
        <p:spPr>
          <a:xfrm>
            <a:off x="6845327" y="1579860"/>
            <a:ext cx="469114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BBF2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IBM Bob Commands</a:t>
            </a:r>
            <a:endParaRPr lang="en-US" sz="14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45327" y="1916609"/>
            <a:ext cx="2278601" cy="126305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089399" y="2084487"/>
            <a:ext cx="1866655" cy="397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/investigate INC-CAND-…</a:t>
            </a:r>
            <a:endParaRPr lang="en-US" sz="1450" dirty="0"/>
          </a:p>
        </p:txBody>
      </p:sp>
      <p:sp>
        <p:nvSpPr>
          <p:cNvPr id="29" name="Text 19"/>
          <p:cNvSpPr/>
          <p:nvPr/>
        </p:nvSpPr>
        <p:spPr>
          <a:xfrm>
            <a:off x="7089399" y="2615902"/>
            <a:ext cx="1866655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Correlate events, load incident, explain risk</a:t>
            </a:r>
            <a:endParaRPr lang="en-US" sz="11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57870" y="1916609"/>
            <a:ext cx="2278601" cy="126305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501942" y="2084487"/>
            <a:ext cx="1866655" cy="19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/explain INC-CAND-…</a:t>
            </a:r>
            <a:endParaRPr lang="en-US" sz="1450" dirty="0"/>
          </a:p>
        </p:txBody>
      </p:sp>
      <p:sp>
        <p:nvSpPr>
          <p:cNvPr id="32" name="Text 21"/>
          <p:cNvSpPr/>
          <p:nvPr/>
        </p:nvSpPr>
        <p:spPr>
          <a:xfrm>
            <a:off x="9501942" y="2417167"/>
            <a:ext cx="1866655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Full risk decomposition + detection gap analysis</a:t>
            </a:r>
            <a:endParaRPr lang="en-US" sz="115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45327" y="3313609"/>
            <a:ext cx="2278601" cy="106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089399" y="3481487"/>
            <a:ext cx="1866655" cy="19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/bluf INC-CAND-…</a:t>
            </a:r>
            <a:endParaRPr lang="en-US" sz="1450" dirty="0"/>
          </a:p>
        </p:txBody>
      </p:sp>
      <p:sp>
        <p:nvSpPr>
          <p:cNvPr id="35" name="Text 23"/>
          <p:cNvSpPr/>
          <p:nvPr/>
        </p:nvSpPr>
        <p:spPr>
          <a:xfrm>
            <a:off x="7089399" y="3814167"/>
            <a:ext cx="1866655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 commander-ready BLUF</a:t>
            </a:r>
            <a:endParaRPr lang="en-US" sz="115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57870" y="3313609"/>
            <a:ext cx="2278601" cy="106432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501942" y="3481487"/>
            <a:ext cx="1866655" cy="19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/runbook INC-CAND-…</a:t>
            </a:r>
            <a:endParaRPr lang="en-US" sz="1450" dirty="0"/>
          </a:p>
        </p:txBody>
      </p:sp>
      <p:sp>
        <p:nvSpPr>
          <p:cNvPr id="38" name="Text 25"/>
          <p:cNvSpPr/>
          <p:nvPr/>
        </p:nvSpPr>
        <p:spPr>
          <a:xfrm>
            <a:off x="9501942" y="3814167"/>
            <a:ext cx="1866655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Retrieve phased remediation runbook</a:t>
            </a:r>
            <a:endParaRPr lang="en-US" sz="1150" dirty="0"/>
          </a:p>
        </p:txBody>
      </p:sp>
      <p:sp>
        <p:nvSpPr>
          <p:cNvPr id="39" name="Shape 26"/>
          <p:cNvSpPr/>
          <p:nvPr/>
        </p:nvSpPr>
        <p:spPr>
          <a:xfrm>
            <a:off x="661475" y="5738019"/>
            <a:ext cx="10868745" cy="526852"/>
          </a:xfrm>
          <a:prstGeom prst="roundRect">
            <a:avLst>
              <a:gd name="adj" fmla="val 1446"/>
            </a:avLst>
          </a:prstGeom>
          <a:solidFill>
            <a:srgbClr val="343F4C"/>
          </a:solidFill>
          <a:ln/>
        </p:spPr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299" y="5918597"/>
            <a:ext cx="186031" cy="14882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1145154" y="5909171"/>
            <a:ext cx="10845826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b="1" kern="0" spc="-23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"Bob retrieves grounded evidence through MCP — it never manufactures a score or attribution. The deterministic engine is always the source of truth."</a:t>
            </a:r>
            <a:endParaRPr lang="en-US" sz="11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4BF3199-44F6-0895-0EC5-128BB937E99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53418" y="6409729"/>
            <a:ext cx="1838582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7297"/>
            <a:ext cx="1573768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3" dirty="0">
                <a:solidFill>
                  <a:srgbClr val="00D4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DASHBOARD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61475" y="832445"/>
            <a:ext cx="10868745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900" kern="0" spc="-147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Live Dashboard — What Analysts See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61475" y="1556246"/>
            <a:ext cx="1266099" cy="226219"/>
          </a:xfrm>
          <a:prstGeom prst="roundRect">
            <a:avLst>
              <a:gd name="adj" fmla="val 3368"/>
            </a:avLst>
          </a:prstGeom>
          <a:solidFill>
            <a:srgbClr val="1F262E"/>
          </a:solidFill>
          <a:ln/>
        </p:spPr>
      </p:sp>
      <p:sp>
        <p:nvSpPr>
          <p:cNvPr id="5" name="Text 3"/>
          <p:cNvSpPr/>
          <p:nvPr/>
        </p:nvSpPr>
        <p:spPr>
          <a:xfrm>
            <a:off x="750769" y="1600895"/>
            <a:ext cx="1697094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COMMAND 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1475" y="1933178"/>
            <a:ext cx="3343291" cy="853678"/>
          </a:xfrm>
          <a:prstGeom prst="roundRect">
            <a:avLst>
              <a:gd name="adj" fmla="val 893"/>
            </a:avLst>
          </a:prstGeom>
          <a:solidFill>
            <a:srgbClr val="0D0D0D"/>
          </a:solidFill>
          <a:ln w="19050">
            <a:solidFill>
              <a:srgbClr val="4254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9349" y="2101056"/>
            <a:ext cx="300754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Raw Observations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9349" y="2421037"/>
            <a:ext cx="3007543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b="1" kern="0" spc="-23" dirty="0">
                <a:solidFill>
                  <a:srgbClr val="F3F3F3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37</a:t>
            </a: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total events ingested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1475" y="2920802"/>
            <a:ext cx="3343291" cy="853678"/>
          </a:xfrm>
          <a:prstGeom prst="roundRect">
            <a:avLst>
              <a:gd name="adj" fmla="val 893"/>
            </a:avLst>
          </a:prstGeom>
          <a:solidFill>
            <a:srgbClr val="0D0D0D"/>
          </a:solidFill>
          <a:ln w="19050">
            <a:solidFill>
              <a:srgbClr val="313B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9349" y="3088680"/>
            <a:ext cx="300754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Candidate Hypotheses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9349" y="3408660"/>
            <a:ext cx="3007543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b="1" kern="0" spc="-23" dirty="0">
                <a:solidFill>
                  <a:srgbClr val="F3F3F3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2</a:t>
            </a: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clusters formed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475" y="3908425"/>
            <a:ext cx="3343291" cy="853678"/>
          </a:xfrm>
          <a:prstGeom prst="roundRect">
            <a:avLst>
              <a:gd name="adj" fmla="val 893"/>
            </a:avLst>
          </a:prstGeom>
          <a:solidFill>
            <a:srgbClr val="0D0D0D"/>
          </a:solidFill>
          <a:ln w="19050">
            <a:solidFill>
              <a:srgbClr val="1E38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49" y="4076303"/>
            <a:ext cx="300754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Promoted Incidents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9349" y="4396284"/>
            <a:ext cx="3007543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b="1" kern="0" spc="-23" dirty="0">
                <a:solidFill>
                  <a:srgbClr val="F3F3F3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1</a:t>
            </a: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· Priority </a:t>
            </a:r>
            <a:r>
              <a:rPr lang="en-US" sz="1150" b="1" kern="0" spc="-23" dirty="0">
                <a:solidFill>
                  <a:srgbClr val="F3F3F3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P1</a:t>
            </a: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· Score </a:t>
            </a:r>
            <a:r>
              <a:rPr lang="en-US" sz="1150" b="1" kern="0" spc="-23" dirty="0">
                <a:solidFill>
                  <a:srgbClr val="F3F3F3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93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1475" y="4912816"/>
            <a:ext cx="3343291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Candidate clustering → Incident promotion → Decision support → Bob investigation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74247" y="1556246"/>
            <a:ext cx="1448061" cy="226219"/>
          </a:xfrm>
          <a:prstGeom prst="roundRect">
            <a:avLst>
              <a:gd name="adj" fmla="val 3368"/>
            </a:avLst>
          </a:prstGeom>
          <a:solidFill>
            <a:srgbClr val="1F262E"/>
          </a:solidFill>
          <a:ln/>
        </p:spPr>
      </p:sp>
      <p:sp>
        <p:nvSpPr>
          <p:cNvPr id="17" name="Text 15"/>
          <p:cNvSpPr/>
          <p:nvPr/>
        </p:nvSpPr>
        <p:spPr>
          <a:xfrm>
            <a:off x="4463541" y="1600895"/>
            <a:ext cx="1879057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INCIDENT INVESTIGATION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74247" y="1933178"/>
            <a:ext cx="3455703" cy="1064320"/>
          </a:xfrm>
          <a:prstGeom prst="roundRect">
            <a:avLst>
              <a:gd name="adj" fmla="val 716"/>
            </a:avLst>
          </a:prstGeom>
          <a:solidFill>
            <a:srgbClr val="0D0D0D"/>
          </a:solidFill>
          <a:ln w="19050">
            <a:solidFill>
              <a:srgbClr val="4254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2121" y="2101056"/>
            <a:ext cx="3119955" cy="19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highlight>
                  <a:srgbClr val="1A1A1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INC-CAND-09226FFA</a:t>
            </a:r>
            <a:r>
              <a:rPr lang="en-US" sz="1450" kern="0" spc="-73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 · P1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42121" y="2433737"/>
            <a:ext cx="3119955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b="1" kern="0" spc="-23" dirty="0">
                <a:solidFill>
                  <a:srgbClr val="F3F3F3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ATT&amp;CK flow:</a:t>
            </a: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T1566.001 → T1059.001 → T1003.001 → T1021.001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74247" y="3131443"/>
            <a:ext cx="3455703" cy="1587996"/>
          </a:xfrm>
          <a:prstGeom prst="roundRect">
            <a:avLst>
              <a:gd name="adj" fmla="val 480"/>
            </a:avLst>
          </a:prstGeom>
          <a:solidFill>
            <a:srgbClr val="0D0D0D"/>
          </a:solidFill>
          <a:ln w="19050">
            <a:solidFill>
              <a:srgbClr val="313B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2121" y="3299321"/>
            <a:ext cx="311995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Risk Scores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2121" y="3619302"/>
            <a:ext cx="3119955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11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Confidence: </a:t>
            </a:r>
            <a:r>
              <a:rPr lang="en-US" sz="1150" b="1" kern="0" spc="-23" dirty="0">
                <a:solidFill>
                  <a:srgbClr val="F3F3F3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92.1%</a:t>
            </a:r>
            <a:endParaRPr lang="en-US" sz="1150" dirty="0"/>
          </a:p>
          <a:p>
            <a:pPr marL="233680" indent="-233680" algn="l">
              <a:lnSpc>
                <a:spcPct val="111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Threat Severity: </a:t>
            </a:r>
            <a:r>
              <a:rPr lang="en-US" sz="1150" b="1" kern="0" spc="-23" dirty="0">
                <a:solidFill>
                  <a:srgbClr val="F3F3F3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92 / 100</a:t>
            </a:r>
            <a:endParaRPr lang="en-US" sz="1150" dirty="0"/>
          </a:p>
          <a:p>
            <a:pPr marL="233680" indent="-233680" algn="l">
              <a:lnSpc>
                <a:spcPct val="111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Mission Impact: </a:t>
            </a:r>
            <a:r>
              <a:rPr lang="en-US" sz="1150" b="1" kern="0" spc="-23" dirty="0">
                <a:solidFill>
                  <a:srgbClr val="F3F3F3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95 / 100</a:t>
            </a:r>
            <a:endParaRPr lang="en-US" sz="1150" dirty="0"/>
          </a:p>
          <a:p>
            <a:pPr marL="233680" indent="-233680" algn="l">
              <a:lnSpc>
                <a:spcPct val="111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Urgency: </a:t>
            </a:r>
            <a:r>
              <a:rPr lang="en-US" sz="1150" b="1" kern="0" spc="-23" dirty="0">
                <a:solidFill>
                  <a:srgbClr val="F3F3F3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97 / 100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74247" y="4853384"/>
            <a:ext cx="3455703" cy="853678"/>
          </a:xfrm>
          <a:prstGeom prst="roundRect">
            <a:avLst>
              <a:gd name="adj" fmla="val 893"/>
            </a:avLst>
          </a:prstGeom>
          <a:solidFill>
            <a:srgbClr val="0D0D0D"/>
          </a:solidFill>
          <a:ln w="19050">
            <a:solidFill>
              <a:srgbClr val="1E38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2121" y="5021263"/>
            <a:ext cx="311995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Flow Coherence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42121" y="5341243"/>
            <a:ext cx="3119955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b="1" kern="0" spc="-23" dirty="0">
                <a:solidFill>
                  <a:srgbClr val="F3F3F3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0.878</a:t>
            </a: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attack-flow coherence score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99431" y="1556246"/>
            <a:ext cx="1127494" cy="226219"/>
          </a:xfrm>
          <a:prstGeom prst="roundRect">
            <a:avLst>
              <a:gd name="adj" fmla="val 3368"/>
            </a:avLst>
          </a:prstGeom>
          <a:solidFill>
            <a:srgbClr val="1F262E"/>
          </a:solidFill>
          <a:ln/>
        </p:spPr>
      </p:sp>
      <p:sp>
        <p:nvSpPr>
          <p:cNvPr id="28" name="Text 26"/>
          <p:cNvSpPr/>
          <p:nvPr/>
        </p:nvSpPr>
        <p:spPr>
          <a:xfrm>
            <a:off x="8288725" y="1600895"/>
            <a:ext cx="1558489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COMMANDER BLUF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99431" y="1933178"/>
            <a:ext cx="3343291" cy="1051620"/>
          </a:xfrm>
          <a:prstGeom prst="roundRect">
            <a:avLst>
              <a:gd name="adj" fmla="val 725"/>
            </a:avLst>
          </a:prstGeom>
          <a:solidFill>
            <a:srgbClr val="0D0D0D"/>
          </a:solidFill>
          <a:ln w="19050">
            <a:solidFill>
              <a:srgbClr val="4254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7305" y="2101056"/>
            <a:ext cx="300754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Bottom Line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367305" y="2421037"/>
            <a:ext cx="3007543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P1 · 92.1% confidence · 92/100 severity · 95/100 mission impact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99431" y="3118743"/>
            <a:ext cx="3343291" cy="1051620"/>
          </a:xfrm>
          <a:prstGeom prst="roundRect">
            <a:avLst>
              <a:gd name="adj" fmla="val 725"/>
            </a:avLst>
          </a:prstGeom>
          <a:solidFill>
            <a:srgbClr val="0D0D0D"/>
          </a:solidFill>
          <a:ln w="19050">
            <a:solidFill>
              <a:srgbClr val="313B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7305" y="3286621"/>
            <a:ext cx="300754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Assessment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67305" y="3606602"/>
            <a:ext cx="3007543" cy="39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Coherent multi-stage behavior pattern observed. ATT&amp;CK similarity — not attribution.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99431" y="4304308"/>
            <a:ext cx="3343291" cy="1541165"/>
          </a:xfrm>
          <a:prstGeom prst="roundRect">
            <a:avLst>
              <a:gd name="adj" fmla="val 494"/>
            </a:avLst>
          </a:prstGeom>
          <a:solidFill>
            <a:srgbClr val="0D0D0D"/>
          </a:solidFill>
          <a:ln w="19050">
            <a:solidFill>
              <a:srgbClr val="1E38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7305" y="4472186"/>
            <a:ext cx="300754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kern="0" spc="-73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Recommended Actions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367305" y="4792166"/>
            <a:ext cx="3007543" cy="885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11000"/>
              </a:lnSpc>
              <a:buSzPct val="100000"/>
              <a:buFont typeface="+mj-lt"/>
              <a:buAutoNum type="arabicPeriod"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Containment of mission-critical asset</a:t>
            </a:r>
            <a:endParaRPr lang="en-US" sz="1150" dirty="0"/>
          </a:p>
          <a:p>
            <a:pPr marL="233680" indent="-233680" algn="l">
              <a:lnSpc>
                <a:spcPct val="111000"/>
              </a:lnSpc>
              <a:buSzPct val="100000"/>
              <a:buFont typeface="+mj-lt"/>
              <a:buAutoNum type="arabicPeriod" startAt="2"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Credential rotation for exposed accounts</a:t>
            </a:r>
            <a:endParaRPr lang="en-US" sz="1150" dirty="0"/>
          </a:p>
          <a:p>
            <a:pPr marL="233680" indent="-233680" algn="l">
              <a:lnSpc>
                <a:spcPct val="111000"/>
              </a:lnSpc>
              <a:buSzPct val="100000"/>
              <a:buFont typeface="+mj-lt"/>
              <a:buAutoNum type="arabicPeriod" startAt="3"/>
            </a:pPr>
            <a:r>
              <a:rPr lang="en-US" sz="1150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Review RDP auth and lateral-movement telemetry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0" y="5841007"/>
            <a:ext cx="11835012" cy="464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1600" i="1" kern="0" spc="-23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Dashboard · MCP server · IBM Bob — all read the same deterministic engine evidence</a:t>
            </a:r>
            <a:endParaRPr lang="en-US" sz="16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7243EDA-1EA9-6DFF-7850-6B6E6258E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418" y="6387150"/>
            <a:ext cx="1838582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6645"/>
            <a:ext cx="1390318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kern="0" spc="-20" dirty="0">
                <a:solidFill>
                  <a:srgbClr val="10B98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61475" y="805160"/>
            <a:ext cx="108687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0" spc="-122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Results &amp; Impact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33467" y="1316831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kern="0" spc="-1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62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857970"/>
            <a:ext cx="5376232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Raw Observations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2068810"/>
            <a:ext cx="5376232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 source schemas · 3 attack days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25980" y="1316831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kern="0" spc="-1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153988" y="1857970"/>
            <a:ext cx="5376232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Candidate Hypotheses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53988" y="2068810"/>
            <a:ext cx="5376232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Generated from 62 records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33467" y="2468761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kern="0" spc="-1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61475" y="3009900"/>
            <a:ext cx="5376232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Promoted Incidents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1475" y="3220740"/>
            <a:ext cx="5376232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3× P1 · 1× P2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25980" y="2468761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kern="0" spc="-1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53988" y="3009900"/>
            <a:ext cx="5376232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3F3F3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False Positives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53988" y="3220740"/>
            <a:ext cx="5376232" cy="1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Benign clusters promoted</a:t>
            </a:r>
            <a:endParaRPr lang="en-US" sz="9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81797"/>
            <a:ext cx="5283068" cy="122674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48994" y="3718520"/>
            <a:ext cx="4958829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F43F5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Naïve Baseline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8994" y="3966567"/>
            <a:ext cx="4958829" cy="705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2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 clusters from same 62 records</a:t>
            </a:r>
            <a:endParaRPr lang="en-US" sz="950" dirty="0"/>
          </a:p>
          <a:p>
            <a:pPr marL="193040" indent="-193040" algn="l">
              <a:lnSpc>
                <a:spcPct val="102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Benign cluster incorrectly flagged</a:t>
            </a:r>
            <a:endParaRPr lang="en-US" sz="950" dirty="0"/>
          </a:p>
          <a:p>
            <a:pPr marL="193040" indent="-193040" algn="l">
              <a:lnSpc>
                <a:spcPct val="102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Fixed time window — no behavioral filter</a:t>
            </a:r>
            <a:endParaRPr lang="en-US" sz="950" dirty="0"/>
          </a:p>
          <a:p>
            <a:pPr marL="193040" indent="-193040" algn="l">
              <a:lnSpc>
                <a:spcPct val="102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 explainability or provenance</a:t>
            </a:r>
            <a:endParaRPr lang="en-US" sz="9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3502" y="3581797"/>
            <a:ext cx="5283068" cy="122674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441021" y="3718520"/>
            <a:ext cx="4958829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10B981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ThreatFusion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41021" y="3966567"/>
            <a:ext cx="4958829" cy="705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2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 candidate hypotheses (not 4)</a:t>
            </a:r>
            <a:endParaRPr lang="en-US" sz="950" dirty="0"/>
          </a:p>
          <a:p>
            <a:pPr marL="193040" indent="-193040" algn="l">
              <a:lnSpc>
                <a:spcPct val="102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 benign clusters promoted</a:t>
            </a:r>
            <a:endParaRPr lang="en-US" sz="950" dirty="0"/>
          </a:p>
          <a:p>
            <a:pPr marL="193040" indent="-193040" algn="l">
              <a:lnSpc>
                <a:spcPct val="102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ATT&amp;CK behavior + attack-flow + source independence required</a:t>
            </a:r>
            <a:endParaRPr lang="en-US" sz="950" dirty="0"/>
          </a:p>
          <a:p>
            <a:pPr marL="193040" indent="-193040" algn="l">
              <a:lnSpc>
                <a:spcPct val="102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 separate explainable risk dimensions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61475" y="5278735"/>
            <a:ext cx="10868745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kern="0" spc="-61" dirty="0">
                <a:solidFill>
                  <a:srgbClr val="A855F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61475" y="5573316"/>
            <a:ext cx="10868745" cy="705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2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Real-time STIX/TAXII 2.1 threat feeds at the ingestion boundary</a:t>
            </a:r>
            <a:endParaRPr lang="en-US" sz="950" dirty="0"/>
          </a:p>
          <a:p>
            <a:pPr marL="193040" indent="-193040" algn="l">
              <a:lnSpc>
                <a:spcPct val="102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ML-based anomaly detection for novel attack patterns</a:t>
            </a:r>
            <a:endParaRPr lang="en-US" sz="950" dirty="0"/>
          </a:p>
          <a:p>
            <a:pPr marL="193040" indent="-193040" algn="l">
              <a:lnSpc>
                <a:spcPct val="102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Distributed streaming with sliding-window correlation</a:t>
            </a:r>
            <a:endParaRPr lang="en-US" sz="950" dirty="0"/>
          </a:p>
          <a:p>
            <a:pPr marL="193040" indent="-193040" algn="l">
              <a:lnSpc>
                <a:spcPct val="102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Enterprise deployment: identity, RBAC, secrets management, data governance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A06EA6D-D194-47F4-6E8E-D42CD6EB3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6672" y="6429315"/>
            <a:ext cx="1838582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3724"/>
            <a:ext cx="10868745" cy="826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6500" kern="0" spc="-326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THANK YOU</a:t>
            </a:r>
            <a:endParaRPr lang="en-US" sz="6500" dirty="0"/>
          </a:p>
        </p:txBody>
      </p:sp>
      <p:sp>
        <p:nvSpPr>
          <p:cNvPr id="3" name="Text 1"/>
          <p:cNvSpPr/>
          <p:nvPr/>
        </p:nvSpPr>
        <p:spPr>
          <a:xfrm>
            <a:off x="661475" y="2138759"/>
            <a:ext cx="10868745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kern="0" spc="-130" dirty="0">
                <a:solidFill>
                  <a:srgbClr val="00D4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ThreatFusion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6682" y="2717602"/>
            <a:ext cx="1147833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300" i="1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From Alert Overload to Actionable Intelligence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17638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F3F3F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484761"/>
            <a:ext cx="1086874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950" kern="0" spc="-98" dirty="0">
                <a:solidFill>
                  <a:srgbClr val="FBBF24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Team FourPointers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56682" y="3980855"/>
            <a:ext cx="1147833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3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Hetraj Rana · Aaryan Patel · Dhruv Gajera · Hit Goyani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67450" y="4815880"/>
            <a:ext cx="1097828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4F60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66666" y="4865489"/>
            <a:ext cx="150898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4F6074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EVIDENCE-FIRST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47925" y="4815880"/>
            <a:ext cx="1066873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4F60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7142" y="4865489"/>
            <a:ext cx="147802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4F6074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ATT&amp;CK-AWARE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7445" y="4815880"/>
            <a:ext cx="959322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4F60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6661" y="4865489"/>
            <a:ext cx="137047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4F6074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IBM BOB MCP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39414" y="4815880"/>
            <a:ext cx="1084831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4F60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8630" y="4865489"/>
            <a:ext cx="149598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4F6074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EXPLAINABLE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10866" y="5550070"/>
            <a:ext cx="3324638" cy="488411"/>
          </a:xfrm>
          <a:prstGeom prst="roundRect">
            <a:avLst>
              <a:gd name="adj" fmla="val 0"/>
            </a:avLst>
          </a:prstGeom>
          <a:solidFill>
            <a:srgbClr val="1F262E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572" y="5730379"/>
            <a:ext cx="132255" cy="13225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885905" y="5720456"/>
            <a:ext cx="3542103" cy="438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F3F3F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IBM BOB AI INNOVATION HACKATHON 2026 · D2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286DFD4-EDF5-A93E-F768-56A1C9620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418" y="6429315"/>
            <a:ext cx="1838582" cy="428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1113</Words>
  <Application>Microsoft Office PowerPoint</Application>
  <PresentationFormat>Widescreen</PresentationFormat>
  <Paragraphs>242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Fira Mono Medium</vt:lpstr>
      <vt:lpstr>Fira Mono</vt:lpstr>
      <vt:lpstr>Fira Sans</vt:lpstr>
      <vt:lpstr>Arial</vt:lpstr>
      <vt:lpstr>Consolas</vt:lpstr>
      <vt:lpstr>Fira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24DIT019 dhruv gajera</cp:lastModifiedBy>
  <cp:revision>2</cp:revision>
  <dcterms:created xsi:type="dcterms:W3CDTF">2026-09-15T16:19:24Z</dcterms:created>
  <dcterms:modified xsi:type="dcterms:W3CDTF">2026-09-15T16:24:02Z</dcterms:modified>
</cp:coreProperties>
</file>